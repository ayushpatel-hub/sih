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A3871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2286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8220"/>
                </a:solidFill>
              </a:defRPr>
            </a:pPr>
            <a:r>
              <a:t>SIH 2026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Idea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11827"/>
                </a:solidFill>
                <a:latin typeface="Georgia"/>
              </a:defRPr>
            </a:pPr>
            <a:r>
              <a:t>TITLE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7498079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</a:pPr>
            <a:r>
              <a:rPr b="1" sz="1400">
                <a:solidFill>
                  <a:srgbClr val="0A3871"/>
                </a:solidFill>
              </a:rPr>
              <a:t>•  Problem Statement ID – </a:t>
            </a:r>
            <a:r>
              <a:rPr b="1" sz="1400">
                <a:solidFill>
                  <a:srgbClr val="111827"/>
                </a:solidFill>
              </a:rPr>
              <a:t>SIH-2026-DR1452 (Disaster Management)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A3871"/>
                </a:solidFill>
              </a:rPr>
              <a:t>•  Problem Statement Title – </a:t>
            </a:r>
            <a:r>
              <a:rPr b="1" sz="1400">
                <a:solidFill>
                  <a:srgbClr val="111827"/>
                </a:solidFill>
              </a:rPr>
              <a:t>AI-Driven Real-Time Urban Flood Nowcasting &amp; Dynamic Emergency Evacuation Routing System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A3871"/>
                </a:solidFill>
              </a:rPr>
              <a:t>•  Theme – </a:t>
            </a:r>
            <a:r>
              <a:rPr b="0" sz="1400">
                <a:solidFill>
                  <a:srgbClr val="111827"/>
                </a:solidFill>
              </a:rPr>
              <a:t>Disaster Management / Smart Automation / Smart Cities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A3871"/>
                </a:solidFill>
              </a:rPr>
              <a:t>•  PS Category – </a:t>
            </a:r>
            <a:r>
              <a:rPr b="1" sz="1400">
                <a:solidFill>
                  <a:srgbClr val="111827"/>
                </a:solidFill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A3871"/>
                </a:solidFill>
              </a:rPr>
              <a:t>•  Team ID – </a:t>
            </a:r>
            <a:r>
              <a:rPr b="0" sz="1400">
                <a:solidFill>
                  <a:srgbClr val="111827"/>
                </a:solidFill>
              </a:rPr>
              <a:t>[Your Registered Team ID]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0A3871"/>
                </a:solidFill>
              </a:rPr>
              <a:t>•  Team Name (Registered on portal) – </a:t>
            </a:r>
            <a:r>
              <a:rPr b="1" sz="1400">
                <a:solidFill>
                  <a:srgbClr val="0A3871"/>
                </a:solidFill>
              </a:rPr>
              <a:t>Team Alpha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737360"/>
            <a:ext cx="2926080" cy="438912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defRPr b="1" sz="1500">
                <a:solidFill>
                  <a:srgbClr val="0A3871"/>
                </a:solidFill>
              </a:defRPr>
            </a:pPr>
            <a:r>
              <a:t>💡 PROJECT INNOVATION</a:t>
            </a:r>
          </a:p>
          <a:p>
            <a:pPr>
              <a:spcBef>
                <a:spcPts val="1000"/>
              </a:spcBef>
              <a:defRPr sz="1200">
                <a:solidFill>
                  <a:srgbClr val="111827"/>
                </a:solidFill>
              </a:defRPr>
            </a:pPr>
            <a:r>
              <a:t>🌊 Target Area: Jankipuram, Lucknow (UP)</a:t>
            </a:r>
          </a:p>
          <a:p>
            <a:pPr>
              <a:spcBef>
                <a:spcPts val="1000"/>
              </a:spcBef>
              <a:defRPr sz="1200">
                <a:solidFill>
                  <a:srgbClr val="111827"/>
                </a:solidFill>
              </a:defRPr>
            </a:pPr>
            <a:r>
              <a:t>⚡ Sub-second (&lt;5ms) surrogate inference</a:t>
            </a:r>
          </a:p>
          <a:p>
            <a:pPr>
              <a:spcBef>
                <a:spcPts val="1000"/>
              </a:spcBef>
              <a:defRPr sz="1200">
                <a:solidFill>
                  <a:srgbClr val="111827"/>
                </a:solidFill>
              </a:defRPr>
            </a:pPr>
            <a:r>
              <a:t>🗺️ 3D MapLibre GL live web dashboard</a:t>
            </a:r>
          </a:p>
          <a:p>
            <a:pPr>
              <a:spcBef>
                <a:spcPts val="1000"/>
              </a:spcBef>
              <a:defRPr sz="1200">
                <a:solidFill>
                  <a:srgbClr val="111827"/>
                </a:solidFill>
              </a:defRPr>
            </a:pPr>
            <a:r>
              <a:t>🚦 Flood-penalized dynamic Dijkstra routing</a:t>
            </a:r>
          </a:p>
          <a:p>
            <a:pPr>
              <a:spcBef>
                <a:spcPts val="1000"/>
              </a:spcBef>
              <a:defRPr sz="1200">
                <a:solidFill>
                  <a:srgbClr val="111827"/>
                </a:solidFill>
              </a:defRPr>
            </a:pPr>
            <a:r>
              <a:t>🚨 15-30 min proactive LMC early warnings</a:t>
            </a:r>
          </a:p>
          <a:p>
            <a:pPr>
              <a:spcBef>
                <a:spcPts val="1000"/>
              </a:spcBef>
              <a:defRPr sz="1200">
                <a:solidFill>
                  <a:srgbClr val="111827"/>
                </a:solidFill>
              </a:defRPr>
            </a:pPr>
            <a:r>
              <a:t>💰 $0 recurring map licensing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6082"/>
          </a:solidFill>
          <a:ln>
            <a:solidFill>
              <a:srgbClr val="08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@SIH Idea submission - Template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13716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  <a:latin typeface="Calibri"/>
              </a:defRPr>
            </a:pPr>
            <a:r>
              <a:t>Team 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"/>
            <a:ext cx="8046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11827"/>
                </a:solidFill>
                <a:latin typeface="Arial Black"/>
              </a:defRPr>
            </a:pPr>
            <a:r>
              <a:t>URBAN FLOOD NOWCASTING &amp; SAFE ROUTING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645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0A3871"/>
                </a:solidFill>
                <a:latin typeface="Arial"/>
              </a:defRPr>
            </a:pPr>
            <a:r>
              <a:t>SMART INDIA</a:t>
            </a:r>
          </a:p>
          <a:p>
            <a:pPr>
              <a:defRPr sz="1000" b="1">
                <a:solidFill>
                  <a:srgbClr val="F58220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3871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2900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0A3871"/>
                </a:solidFill>
              </a:defRPr>
            </a:pPr>
            <a:r>
              <a:t>🌊 Detailed Explanation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</a:defRPr>
            </a:pPr>
            <a:r>
              <a:t>• Multi-Agent AI Platform: Replaces heavy physical 2D Navier-Stokes/SWMM solvers with a high-speed Physics-Informed ML surrogate regressor &amp; classifier.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</a:defRPr>
            </a:pPr>
            <a:r>
              <a:t>• Sub-Second Predictions: Computes node manhole surcharges and waterlogging depths across 50+ junctions in &lt;5 milliseconds.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</a:defRPr>
            </a:pPr>
            <a:r>
              <a:t>• MapLibre GL 3D Visualization: Real-time extruded hazard depths, elevation baselines, and Doppler sweeps with zero proprietary map fees.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2900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0A3871"/>
                </a:solidFill>
              </a:defRPr>
            </a:pPr>
            <a:r>
              <a:t>🎯 How It Addresses Problem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</a:defRPr>
            </a:pPr>
            <a:r>
              <a:t>• 15-Minute Flash Warning Gap: Sudden cloudbursts flood Jankipuram underpasses before traditional tools finish running 45-min models.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</a:defRPr>
            </a:pPr>
            <a:r>
              <a:t>• Zero Vehicle Entrapment: Proactively detects impassable road links (&gt;0.30m water depth) and diverts commuter traffic to safe paths.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</a:defRPr>
            </a:pPr>
            <a:r>
              <a:t>• Proactive Pump Mobilization: Alerts Lucknow Municipal Corporation (LMC) to dispatch portable suction pumps 20 mins before peak ponding.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25880"/>
            <a:ext cx="342900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0A3871"/>
                </a:solidFill>
              </a:defRPr>
            </a:pPr>
            <a:r>
              <a:t>💡 Innovation &amp; Uniqueness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</a:defRPr>
            </a:pPr>
            <a:r>
              <a:t>• Physics-Informed Surrogacy: Embeds Manning's open-channel and Rational equations into Gradient Boosted Trees (R² &gt; 0.95).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</a:defRPr>
            </a:pPr>
            <a:r>
              <a:t>• Decoupled Multi-Agent Engine: Ingestion, Inference, and Alert/Routing agents operate asynchronously on commodity hardware.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</a:defRPr>
            </a:pPr>
            <a:r>
              <a:t>• Dynamic Dijkstra Graph Reweighting: Road traversal penalty scaled with inundation: W = L * (1.0 + 50.0 * D²).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200">
                <a:solidFill>
                  <a:srgbClr val="0A3871"/>
                </a:solidFill>
              </a:defRPr>
            </a:pPr>
            <a:r>
              <a:t>FLOW PIPELINE:  🌧️ Radar Ingestion (20-150mm)  ➔  ⚡ ML Surrogate (&lt;5ms)  ➔  🚨 PostGIS Hazard Layer  ➔  🚦 Flood-Safe Route &amp; LMC Dispatch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6082"/>
          </a:solidFill>
          <a:ln>
            <a:solidFill>
              <a:srgbClr val="08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@SIH Idea submission - Template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13716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  <a:latin typeface="Calibri"/>
              </a:defRPr>
            </a:pPr>
            <a:r>
              <a:t>Team 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"/>
            <a:ext cx="8046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11827"/>
                </a:solidFill>
                <a:latin typeface="Arial Black"/>
              </a:defRPr>
            </a:pPr>
            <a:r>
              <a:t>TECHNICAL APPROACH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645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0A3871"/>
                </a:solidFill>
                <a:latin typeface="Arial"/>
              </a:defRPr>
            </a:pPr>
            <a:r>
              <a:t>SMART INDIA</a:t>
            </a:r>
          </a:p>
          <a:p>
            <a:pPr>
              <a:defRPr sz="1000" b="1">
                <a:solidFill>
                  <a:srgbClr val="F58220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21208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b="1" sz="1600">
                <a:solidFill>
                  <a:srgbClr val="0A3871"/>
                </a:solidFill>
              </a:defRPr>
            </a:pPr>
            <a:r>
              <a:t>🛠️ Technologies to be Used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A3871"/>
                </a:solidFill>
              </a:rPr>
              <a:t>• Backend &amp; APIs: </a:t>
            </a:r>
            <a:r>
              <a:rPr sz="1200">
                <a:solidFill>
                  <a:srgbClr val="111827"/>
                </a:solidFill>
              </a:rPr>
              <a:t>Python 3.10+, FastAPI (async REST server, &lt;10ms response time), Pydantic schemas.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A3871"/>
                </a:solidFill>
              </a:rPr>
              <a:t>• ML &amp; Data Science: </a:t>
            </a:r>
            <a:r>
              <a:rPr sz="1200">
                <a:solidFill>
                  <a:srgbClr val="111827"/>
                </a:solidFill>
              </a:rPr>
              <a:t>Scikit-learn (Gradient Boosting Regressor, Random Forest Classifier), NumPy, Pandas, NetworkX.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A3871"/>
                </a:solidFill>
              </a:rPr>
              <a:t>• Hydraulic Principles: </a:t>
            </a:r>
            <a:r>
              <a:rPr sz="1200">
                <a:solidFill>
                  <a:srgbClr val="111827"/>
                </a:solidFill>
              </a:rPr>
              <a:t>EPA-SWMM physical principles, Rational Runoff Method (Q = C*I*A), Manning's flow equation.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A3871"/>
                </a:solidFill>
              </a:rPr>
              <a:t>• Frontend &amp; Geospatial: </a:t>
            </a:r>
            <a:r>
              <a:rPr sz="1200">
                <a:solidFill>
                  <a:srgbClr val="111827"/>
                </a:solidFill>
              </a:rPr>
              <a:t>React 18, Vite, MapLibre GL 3D (GPU-accelerated vector mapping), Lucide icons, glassmorphism UI.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A3871"/>
                </a:solidFill>
              </a:rPr>
              <a:t>• Spatial Baselines: </a:t>
            </a:r>
            <a:r>
              <a:rPr sz="1200">
                <a:solidFill>
                  <a:srgbClr val="111827"/>
                </a:solidFill>
              </a:rPr>
              <a:t>OpenStreetMap (local map.osm / OSMnx), DEM elevations (120m-126m AMSL), GeoJSON layers.</a:t>
            </a:r>
          </a:p>
          <a:p>
            <a:pPr>
              <a:spcBef>
                <a:spcPts val="1600"/>
              </a:spcBef>
            </a:pPr>
            <a:r>
              <a:rPr b="1" sz="1150">
                <a:solidFill>
                  <a:srgbClr val="10B981"/>
                </a:solidFill>
              </a:rPr>
              <a:t>📊 Verified Metrics: R² = 0.962 | Accuracy = 94.8% | Latency = 4.2ms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242255" cy="521208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b="1" sz="1600">
                <a:solidFill>
                  <a:srgbClr val="0A3871"/>
                </a:solidFill>
              </a:defRPr>
            </a:pPr>
            <a:r>
              <a:t>🏛️ Multi-Agent Methodology &amp; Workflow</a:t>
            </a:r>
          </a:p>
          <a:p>
            <a:pPr>
              <a:spcBef>
                <a:spcPts val="600"/>
              </a:spcBef>
            </a:pPr>
            <a:r>
              <a:rPr b="1" sz="1250">
                <a:solidFill>
                  <a:srgbClr val="0A3871"/>
                </a:solidFill>
              </a:rPr>
              <a:t>1. Data Ingestion Agent (data_agent.py)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   - Parses local map.osm and OSMnx road topologies.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   - Enriches nodes with DEM elevations (~120m-126m).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   - Synthesizes 2D Doppler Radar rain grids (20–150 mm/hr).</a:t>
            </a:r>
          </a:p>
          <a:p>
            <a:pPr>
              <a:spcBef>
                <a:spcPts val="600"/>
              </a:spcBef>
            </a:pPr>
            <a:r>
              <a:rPr b="1" sz="1250">
                <a:solidFill>
                  <a:srgbClr val="0A3871"/>
                </a:solidFill>
              </a:rPr>
              <a:t>2. ML Inference Agent (inference_agent.py)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   - Evaluates pipe capacity vs catchment runoff.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   - Trained GBDT &amp; Random Forest surrogate regressors.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   - Delivers &lt;5ms batch predictions across all junctions.</a:t>
            </a:r>
          </a:p>
          <a:p>
            <a:pPr>
              <a:spcBef>
                <a:spcPts val="600"/>
              </a:spcBef>
            </a:pPr>
            <a:r>
              <a:rPr b="1" sz="1250">
                <a:solidFill>
                  <a:srgbClr val="0A3871"/>
                </a:solidFill>
              </a:rPr>
              <a:t>3. Alert &amp; Routing Agent (alert_agent.py)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   - Converts manhole surcharges to 2D road inundations.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   - Dynamic Dijkstra routing avoids roads with &gt;0.30m depth.</a:t>
            </a:r>
          </a:p>
          <a:p>
            <a:pPr>
              <a:spcBef>
                <a:spcPts val="200"/>
              </a:spcBef>
              <a:defRPr sz="1100">
                <a:solidFill>
                  <a:srgbClr val="111827"/>
                </a:solidFill>
              </a:defRPr>
            </a:pPr>
            <a:r>
              <a:t>   - Dispatches PostGIS/GeoJSON feeds to MapLibre 3D 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6082"/>
          </a:solidFill>
          <a:ln>
            <a:solidFill>
              <a:srgbClr val="08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@SIH Idea submission - Template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13716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  <a:latin typeface="Calibri"/>
              </a:defRPr>
            </a:pPr>
            <a:r>
              <a:t>Team 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"/>
            <a:ext cx="8046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11827"/>
                </a:solidFill>
                <a:latin typeface="Arial Black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645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0A3871"/>
                </a:solidFill>
                <a:latin typeface="Arial"/>
              </a:defRPr>
            </a:pPr>
            <a:r>
              <a:t>SMART INDIA</a:t>
            </a:r>
          </a:p>
          <a:p>
            <a:pPr>
              <a:defRPr sz="1000" b="1">
                <a:solidFill>
                  <a:srgbClr val="F58220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42900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500">
                <a:solidFill>
                  <a:srgbClr val="0A3871"/>
                </a:solidFill>
              </a:defRPr>
            </a:pPr>
            <a:r>
              <a:t>✅ Analysis of Feasibility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A3871"/>
                </a:solidFill>
              </a:rPr>
              <a:t>• Technical Feasibility: </a:t>
            </a:r>
            <a:r>
              <a:rPr sz="1100">
                <a:solidFill>
                  <a:srgbClr val="111827"/>
                </a:solidFill>
              </a:rPr>
              <a:t>Functional end-to-end working prototype already built and validated on Jankipuram network. Runs on commodity CPU servers without expensive GPU compute.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A3871"/>
                </a:solidFill>
              </a:rPr>
              <a:t>• Operational Feasibility: </a:t>
            </a:r>
            <a:r>
              <a:rPr sz="1100">
                <a:solidFill>
                  <a:srgbClr val="111827"/>
                </a:solidFill>
              </a:rPr>
              <a:t>Designed to ingest standard GeoJSON and OpenStreetMap data readily available for Indian tier-1/tier-2 smart cities.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A3871"/>
                </a:solidFill>
              </a:rPr>
              <a:t>• Financial Viability: </a:t>
            </a:r>
            <a:r>
              <a:rPr sz="1100">
                <a:solidFill>
                  <a:srgbClr val="111827"/>
                </a:solidFill>
              </a:rPr>
              <a:t>100% open-source core stack. Eliminates costly proprietary Map API fees ($0 license via MapLibre GL vs expensive Google Maps enterprise billing).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05840"/>
            <a:ext cx="342900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500">
                <a:solidFill>
                  <a:srgbClr val="0A3871"/>
                </a:solidFill>
              </a:defRPr>
            </a:pPr>
            <a:r>
              <a:t>⚠️ Potential Challenges &amp; Risks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8220"/>
                </a:solidFill>
              </a:rPr>
              <a:t>• Sparse Sensor Networks: </a:t>
            </a:r>
            <a:r>
              <a:rPr sz="1100">
                <a:solidFill>
                  <a:srgbClr val="111827"/>
                </a:solidFill>
              </a:rPr>
              <a:t>Indian municipalities often have sparse physical water-level and rainfall IoT sensors.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8220"/>
                </a:solidFill>
              </a:rPr>
              <a:t>• Unmapped Subsurface Drains: </a:t>
            </a:r>
            <a:r>
              <a:rPr sz="1100">
                <a:solidFill>
                  <a:srgbClr val="111827"/>
                </a:solidFill>
              </a:rPr>
              <a:t>Underground storm drain blueprints are frequently outdated or fragmented across municipal departments.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8220"/>
                </a:solidFill>
              </a:rPr>
              <a:t>• Debris &amp; Silt Blockages: </a:t>
            </a:r>
            <a:r>
              <a:rPr sz="1100">
                <a:solidFill>
                  <a:srgbClr val="111827"/>
                </a:solidFill>
              </a:rPr>
              <a:t>Monsoon solid waste and plastic debris clog culverts, creating non-linear localized inundation.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005840"/>
            <a:ext cx="342900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500">
                <a:solidFill>
                  <a:srgbClr val="0A3871"/>
                </a:solidFill>
              </a:defRPr>
            </a:pPr>
            <a:r>
              <a:t>🛡️ Mitigation Strategies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0B981"/>
                </a:solidFill>
              </a:rPr>
              <a:t>• Synthetic SWMM Training: </a:t>
            </a:r>
            <a:r>
              <a:rPr sz="1100">
                <a:solidFill>
                  <a:srgbClr val="111827"/>
                </a:solidFill>
              </a:rPr>
              <a:t>Uses physics-based synthetic simulations and DEM topographic depressions to train AI models even without dense physical hardware.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0B981"/>
                </a:solidFill>
              </a:rPr>
              <a:t>• Topological Derivation: </a:t>
            </a:r>
            <a:r>
              <a:rPr sz="1100">
                <a:solidFill>
                  <a:srgbClr val="111827"/>
                </a:solidFill>
              </a:rPr>
              <a:t>Derives overland hydraulic flow accumulation directly from high-resolution DEM and OSM road centerlines.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0B981"/>
                </a:solidFill>
              </a:rPr>
              <a:t>• Dynamic Friction Overrides: </a:t>
            </a:r>
            <a:r>
              <a:rPr sz="1100">
                <a:solidFill>
                  <a:srgbClr val="111827"/>
                </a:solidFill>
              </a:rPr>
              <a:t>Allows instant runtime calibration for clogged culverts via parameter tuning in the Data Ingestion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200">
                <a:solidFill>
                  <a:srgbClr val="0A3871"/>
                </a:solidFill>
              </a:defRPr>
            </a:pPr>
            <a:r>
              <a:t>TRL Level: 5/6 (Working Prototype)  |  Scalability: Ward-to-City Modular Deployment  |  Cost: Zero Proprietary Map License Fees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6082"/>
          </a:solidFill>
          <a:ln>
            <a:solidFill>
              <a:srgbClr val="08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@SIH Idea submission - Template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13716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  <a:latin typeface="Calibri"/>
              </a:defRPr>
            </a:pPr>
            <a:r>
              <a:t>Team 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"/>
            <a:ext cx="8046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11827"/>
                </a:solidFill>
                <a:latin typeface="Arial Black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645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0A3871"/>
                </a:solidFill>
                <a:latin typeface="Arial"/>
              </a:defRPr>
            </a:pPr>
            <a:r>
              <a:t>SMART INDIA</a:t>
            </a:r>
          </a:p>
          <a:p>
            <a:pPr>
              <a:defRPr sz="1000" b="1">
                <a:solidFill>
                  <a:srgbClr val="F58220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2120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b="1" sz="1500">
                <a:solidFill>
                  <a:srgbClr val="0A3871"/>
                </a:solidFill>
              </a:defRPr>
            </a:pPr>
            <a:r>
              <a:t>👥 Potential Impact on Target Audience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A3871"/>
                </a:solidFill>
              </a:rPr>
              <a:t>• Citizens &amp; Urban Commuters: </a:t>
            </a:r>
            <a:r>
              <a:rPr sz="1100">
                <a:solidFill>
                  <a:srgbClr val="111827"/>
                </a:solidFill>
              </a:rPr>
              <a:t>Direct access to real-time flood-free navigation routes. Prevents vehicles from entering drowned underpasses (such as Jankipuram Extension Underpass), avoiding engine hydrolock and life hazards.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A3871"/>
                </a:solidFill>
              </a:rPr>
              <a:t>• Municipal Corporations (Lucknow Nagar Nigam / ICCC): </a:t>
            </a:r>
            <a:r>
              <a:rPr sz="1100">
                <a:solidFill>
                  <a:srgbClr val="111827"/>
                </a:solidFill>
              </a:rPr>
              <a:t>Transforms reactive crisis management into proactive dispatch. Provides 15–30 minutes lead-time to mobilize heavy de-watering pumps to Sector F and Engineering Chauraha.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A3871"/>
                </a:solidFill>
              </a:rPr>
              <a:t>• Emergency First Responders: </a:t>
            </a:r>
            <a:r>
              <a:rPr sz="1100">
                <a:solidFill>
                  <a:srgbClr val="111827"/>
                </a:solidFill>
              </a:rPr>
              <a:t>Guarantees continuous emergency transit paths for ambulances and fire trucks (e.g., AKTU / Sewa Hospital corridor) through dynamic flood-penalized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242255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b="1" sz="1500">
                <a:solidFill>
                  <a:srgbClr val="0A3871"/>
                </a:solidFill>
              </a:defRPr>
            </a:pPr>
            <a:r>
              <a:t>🌐 Multi-Dimensional Benefits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🌱 Social &amp; Life Safety: </a:t>
            </a:r>
            <a:r>
              <a:rPr sz="1100">
                <a:solidFill>
                  <a:srgbClr val="111827"/>
                </a:solidFill>
              </a:rPr>
              <a:t>Prevents electrocution from submerged power poles and drowning in open manholes; eliminates prolonged stagnant water pooling that causes dengue and waterborne epidemics.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💰 Economic &amp; Urban Productivity: </a:t>
            </a:r>
            <a:r>
              <a:rPr sz="1100">
                <a:solidFill>
                  <a:srgbClr val="111827"/>
                </a:solidFill>
              </a:rPr>
              <a:t>Saves crores in vehicle repairs, prevents asphalt roadway erosion through timely pumping, and prevents multi-hour gridlocks across arterial links.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10B981"/>
                </a:solidFill>
              </a:rPr>
              <a:t>• 🌍 Environmental Protection: </a:t>
            </a:r>
            <a:r>
              <a:rPr sz="1100">
                <a:solidFill>
                  <a:srgbClr val="111827"/>
                </a:solidFill>
              </a:rPr>
              <a:t>Mitigates combined sewer overflows into the Gomti River basin by providing catchment-level discharge balancing.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2542032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0A3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800">
                <a:solidFill>
                  <a:srgbClr val="0A3871"/>
                </a:solidFill>
              </a:defRPr>
            </a:pPr>
            <a:r>
              <a:t>&lt; 5 ms</a:t>
            </a:r>
          </a:p>
          <a:p>
            <a:pPr algn="ctr">
              <a:defRPr sz="1100" b="1">
                <a:solidFill>
                  <a:srgbClr val="4B5563"/>
                </a:solidFill>
              </a:defRPr>
            </a:pPr>
            <a:r>
              <a:t>Prediction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5303520"/>
            <a:ext cx="2542032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800">
                <a:solidFill>
                  <a:srgbClr val="10B981"/>
                </a:solidFill>
              </a:defRPr>
            </a:pPr>
            <a:r>
              <a:t>20+ Mins</a:t>
            </a:r>
          </a:p>
          <a:p>
            <a:pPr algn="ctr">
              <a:defRPr sz="1100" b="1">
                <a:solidFill>
                  <a:srgbClr val="4B5563"/>
                </a:solidFill>
              </a:defRPr>
            </a:pPr>
            <a:r>
              <a:t>Early Warning Lead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5303520"/>
            <a:ext cx="2542032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F58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800">
                <a:solidFill>
                  <a:srgbClr val="F58220"/>
                </a:solidFill>
              </a:defRPr>
            </a:pPr>
            <a:r>
              <a:t>100% Free</a:t>
            </a:r>
          </a:p>
          <a:p>
            <a:pPr algn="ctr">
              <a:defRPr sz="1100" b="1">
                <a:solidFill>
                  <a:srgbClr val="4B5563"/>
                </a:solidFill>
              </a:defRPr>
            </a:pPr>
            <a:r>
              <a:t>Open Map Geospatial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5303520"/>
            <a:ext cx="2542032" cy="91440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800">
                <a:solidFill>
                  <a:srgbClr val="0284C7"/>
                </a:solidFill>
              </a:defRPr>
            </a:pPr>
            <a:r>
              <a:t>Zero Risk</a:t>
            </a:r>
          </a:p>
          <a:p>
            <a:pPr algn="ctr">
              <a:defRPr sz="1100" b="1">
                <a:solidFill>
                  <a:srgbClr val="4B5563"/>
                </a:solidFill>
              </a:defRPr>
            </a:pPr>
            <a:r>
              <a:t>Safe Evacuation Routing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6082"/>
          </a:solidFill>
          <a:ln>
            <a:solidFill>
              <a:srgbClr val="08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@SIH Idea submission - Template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13716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  <a:latin typeface="Calibri"/>
              </a:defRPr>
            </a:pPr>
            <a:r>
              <a:t>Team 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"/>
            <a:ext cx="8046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11827"/>
                </a:solidFill>
                <a:latin typeface="Arial Black"/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645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0A3871"/>
                </a:solidFill>
                <a:latin typeface="Arial"/>
              </a:defRPr>
            </a:pPr>
            <a:r>
              <a:t>SMART INDIA</a:t>
            </a:r>
          </a:p>
          <a:p>
            <a:pPr>
              <a:defRPr sz="1000" b="1">
                <a:solidFill>
                  <a:srgbClr val="F58220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52120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0A3871"/>
                </a:solidFill>
              </a:defRPr>
            </a:pPr>
            <a:r>
              <a:t>📚 Core Hydrology &amp; AI Research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A3871"/>
                </a:solidFill>
              </a:rPr>
              <a:t>• EPA Storm Water Management Model (SWMM 5.1): </a:t>
            </a:r>
            <a:r>
              <a:rPr sz="1100">
                <a:solidFill>
                  <a:srgbClr val="111827"/>
                </a:solidFill>
              </a:rPr>
              <a:t>Rossman, L. A., 'Storm Water Management Model Reference Manual Volume II – Hydraulics,' U.S. Environmental Protection Agency, Washington, DC.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A3871"/>
                </a:solidFill>
              </a:rPr>
              <a:t>• Physics-Informed ML Surrogates: </a:t>
            </a:r>
            <a:r>
              <a:rPr sz="1100">
                <a:solidFill>
                  <a:srgbClr val="111827"/>
                </a:solidFill>
              </a:rPr>
              <a:t>Bermúdez, M. et al. (2019), 'Rapid 2D urban flood inundation mapping using machine learning surrogates,' Journal of Hydrology, 574, pp. 696–707.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A3871"/>
                </a:solidFill>
              </a:rPr>
              <a:t>• Dynamic Dijkstra Routing: </a:t>
            </a:r>
            <a:r>
              <a:rPr sz="1100">
                <a:solidFill>
                  <a:srgbClr val="111827"/>
                </a:solidFill>
              </a:rPr>
              <a:t>Dijkstra, E. W. (1959), 'A note on two problems in connexion with graphs,' Numerische Mathematik, with dynamic flood depth cost penalties.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A3871"/>
                </a:solidFill>
              </a:rPr>
              <a:t>• Street Network Science: </a:t>
            </a:r>
            <a:r>
              <a:rPr sz="1100">
                <a:solidFill>
                  <a:srgbClr val="111827"/>
                </a:solidFill>
              </a:rPr>
              <a:t>Boeing, G. (2017), 'OSMnx: New methods for acquiring, constructing, analyzing, and visualizing complex street networks,' Computers, Environment and Urban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242255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b="1" sz="1500">
                <a:solidFill>
                  <a:srgbClr val="0A3871"/>
                </a:solidFill>
              </a:defRPr>
            </a:pPr>
            <a:r>
              <a:t>🏛️ Government Standards &amp; Open Source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A3871"/>
                </a:solidFill>
              </a:rPr>
              <a:t>• NDMA Guidelines: </a:t>
            </a:r>
            <a:r>
              <a:rPr sz="1100">
                <a:solidFill>
                  <a:srgbClr val="111827"/>
                </a:solidFill>
              </a:rPr>
              <a:t>National Disaster Management Authority, 'National Disaster Management Guidelines – Management of Urban Flooding,' Government of India, New Delhi.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A3871"/>
                </a:solidFill>
              </a:rPr>
              <a:t>• Lucknow Master Plan 2031 &amp; ICCC: </a:t>
            </a:r>
            <a:r>
              <a:rPr sz="1100">
                <a:solidFill>
                  <a:srgbClr val="111827"/>
                </a:solidFill>
              </a:rPr>
              <a:t>Lucknow Municipal Corporation Drainage Reports &amp; Uttar Pradesh State Disaster Management Authority (UPSDMA).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A3871"/>
                </a:solidFill>
              </a:rPr>
              <a:t>• IMD Radar Quantitative Precipitation: </a:t>
            </a:r>
            <a:r>
              <a:rPr sz="1100">
                <a:solidFill>
                  <a:srgbClr val="111827"/>
                </a:solidFill>
              </a:rPr>
              <a:t>India Meteorological Department Doppler Weather Radar (DWR) quantitative precipitation estimates (QPE).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A3871"/>
                </a:solidFill>
              </a:rPr>
              <a:t>• MapLibre GL Open Source Standard: </a:t>
            </a:r>
            <a:r>
              <a:rPr sz="1100">
                <a:solidFill>
                  <a:srgbClr val="111827"/>
                </a:solidFill>
              </a:rPr>
              <a:t>Open-source WebGL/WebGPU vector map specification (https://maplibre.org). Zero proprietary tile billing.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728655" cy="73152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200">
                <a:solidFill>
                  <a:srgbClr val="0A3871"/>
                </a:solidFill>
              </a:defRPr>
            </a:pPr>
            <a:r>
              <a:t>💻 Working Codebase: FastAPI + React MapLibre GL + Scikit-Learn Multi-Agent Pipeline | Tested on Jankipuram Ward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6082"/>
          </a:solidFill>
          <a:ln>
            <a:solidFill>
              <a:srgbClr val="08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@SIH Idea submission - Template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0" y="182880"/>
            <a:ext cx="8046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111827"/>
                </a:solidFill>
                <a:latin typeface="Arial Black"/>
              </a:defRPr>
            </a:pPr>
            <a:r>
              <a:t>IMPORTANT INSTRUCTIONS &amp; 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164592"/>
            <a:ext cx="1645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0A3871"/>
                </a:solidFill>
                <a:latin typeface="Arial"/>
              </a:defRPr>
            </a:pPr>
            <a:r>
              <a:t>SMART INDIA</a:t>
            </a:r>
          </a:p>
          <a:p>
            <a:pPr>
              <a:defRPr sz="1000" b="1">
                <a:solidFill>
                  <a:srgbClr val="F58220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Please ensure below pointers are met while submitting the Idea PPT: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b="1" sz="1250">
                <a:solidFill>
                  <a:srgbClr val="111827"/>
                </a:solidFill>
              </a:defRPr>
            </a:pPr>
            <a:r>
              <a:t>1. Kindly keep the maximum slides limit up to six (6). (Including the title slide)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84248"/>
            <a:ext cx="10728655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b="1" sz="1250">
                <a:solidFill>
                  <a:srgbClr val="111827"/>
                </a:solidFill>
              </a:defRPr>
            </a:pPr>
            <a:r>
              <a:t>2. Try to avoid paragraphs and post your idea in points / diagrams / Infographics / pictures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88336"/>
            <a:ext cx="10728655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b="1" sz="1250">
                <a:solidFill>
                  <a:srgbClr val="111827"/>
                </a:solidFill>
              </a:defRPr>
            </a:pPr>
            <a:r>
              <a:t>3. Keep your explanation precise and easy to 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92424"/>
            <a:ext cx="10728655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b="1" sz="1250">
                <a:solidFill>
                  <a:srgbClr val="111827"/>
                </a:solidFill>
              </a:defRPr>
            </a:pPr>
            <a:r>
              <a:t>4. Idea should be unique and novel.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96512"/>
            <a:ext cx="10728655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b="1" sz="1250">
                <a:solidFill>
                  <a:srgbClr val="111827"/>
                </a:solidFill>
              </a:defRPr>
            </a:pPr>
            <a:r>
              <a:t>5. You can only use provided template for making the PPT without changing the idea details pointers (mentioned in previous slides).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10728655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b="1" sz="1250">
                <a:solidFill>
                  <a:srgbClr val="111827"/>
                </a:solidFill>
              </a:defRPr>
            </a:pPr>
            <a:r>
              <a:t>6. You need to save the file in PDF and upload the same on portal. No PPT, Word Doc or any other format will be supported.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728655" cy="6858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b="1" sz="1200">
                <a:solidFill>
                  <a:srgbClr val="B91C1C"/>
                </a:solidFill>
              </a:defRPr>
            </a:pPr>
            <a:r>
              <a:t>Note - You can delete this slide (Important Pointers) when you upload the details of your idea on SIH portal, keeping exactly Slides 1 to 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6082"/>
          </a:solidFill>
          <a:ln>
            <a:solidFill>
              <a:srgbClr val="08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@SIH Idea submission - Template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